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0:00-0:30. One-line pitch: a registrar puts only a fingerprint of the certificate on-chain; anyone re-hashes the PDF they were handed and checks it. Local Hardhat chain only, fictional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0:30-1:15. Who suffers and one failure: a genuine PDF with one field edited. Today's check is manual, slow and often paid, so most employers skip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1:15-2:15. Be honest on Q3: a signed PDF plus a transparency log is a real alternative (rejected option A in DESIGN.md). What the chain adds is a shared, append-only revocation status no single university can rewrite.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2:15-3:30. Only hashes, issuer, times and status go on-chain: the chain is public and permanent, so no personal data. The salt defeats hashing a roll list. chain.py is the single web3 boundary (rule M3).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 the rules: revoked is never deleted (reads REVOKED, not absent); only the issuing registrar can revoke (NotIssuer); custom errors are decoded by name in chain.py.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3:30-5:30. Run make demo live. Backup: Demo_&lt;Roll&gt;.mp4. Point at step 6: revoked reads REVOKED, not absent. Step 7 is the rejected invalid action. If time: make demo-cohort.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5:30-8:00. Three threats with control and residual risk. Tests: 10 Hardhat + 5 pytest, run by make test. Limits: exact-bytes matching; batching makes a cohort cost about one issue. AI declared in AI_USAGE.md. Stop at 8:00.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005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TECHNOLOGIES  ·  MINI PROJECT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554480"/>
            <a:ext cx="7132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Tamper-evident</a:t>
            </a:r>
            <a:endParaRPr lang="en-US" sz="4800" dirty="0"/>
          </a:p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Credential Registry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611880"/>
            <a:ext cx="6675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one byte of a degree certificate and anyone can tell — in seconds, for free.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12064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&lt;Your Name&gt;   ·   Roll &lt;Roll No&gt;   ·   M.Tech CSE, Sem 3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566928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Technologies (24MTSCSEDE53)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0" y="1188720"/>
            <a:ext cx="3200400" cy="3200400"/>
          </a:xfrm>
          <a:prstGeom prst="ellipse">
            <a:avLst/>
          </a:prstGeom>
          <a:solidFill>
            <a:srgbClr val="22345E"/>
          </a:solidFill>
          <a:ln w="38100">
            <a:solidFill>
              <a:srgbClr val="D4A017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1783080"/>
            <a:ext cx="1371600" cy="13716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229600" y="32918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7863840" y="47548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0x493f…cb70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7863840" y="516636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FD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✓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Forged degrees: cheap to make, slow to check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suffers today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822960" cy="82296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" y="2171700"/>
            <a:ext cx="411480" cy="4114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00200" y="194767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Employers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1600200" y="233172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cheaply tell a genuine PDF from an edited one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48640" y="3337560"/>
            <a:ext cx="822960" cy="82296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" y="3543300"/>
            <a:ext cx="411480" cy="41148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600200" y="331927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graduates</a:t>
            </a:r>
            <a:endParaRPr lang="en-US" sz="2000" dirty="0"/>
          </a:p>
        </p:txBody>
      </p:sp>
      <p:sp>
        <p:nvSpPr>
          <p:cNvPr id="11" name="Text 7"/>
          <p:cNvSpPr txBox="1"/>
          <p:nvPr/>
        </p:nvSpPr>
        <p:spPr>
          <a:xfrm>
            <a:off x="1600200" y="370332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days while an offer is on hold</a:t>
            </a:r>
            <a:endParaRPr lang="en-US" sz="1800" dirty="0"/>
          </a:p>
        </p:txBody>
      </p:sp>
      <p:sp>
        <p:nvSpPr>
          <p:cNvPr id="12" name="Shape 8"/>
          <p:cNvSpPr/>
          <p:nvPr/>
        </p:nvSpPr>
        <p:spPr>
          <a:xfrm>
            <a:off x="548640" y="4709160"/>
            <a:ext cx="822960" cy="82296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" y="4914900"/>
            <a:ext cx="411480" cy="41148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600200" y="469087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Universities</a:t>
            </a:r>
            <a:endParaRPr lang="en-US" sz="2000" dirty="0"/>
          </a:p>
        </p:txBody>
      </p:sp>
      <p:sp>
        <p:nvSpPr>
          <p:cNvPr id="15" name="Text 10"/>
          <p:cNvSpPr txBox="1"/>
          <p:nvPr/>
        </p:nvSpPr>
        <p:spPr>
          <a:xfrm>
            <a:off x="1600200" y="507492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the same verification e-mails again and again</a:t>
            </a:r>
            <a:endParaRPr lang="en-US" sz="1800" dirty="0"/>
          </a:p>
        </p:txBody>
      </p:sp>
      <p:sp>
        <p:nvSpPr>
          <p:cNvPr id="16" name="Shape 11"/>
          <p:cNvSpPr/>
          <p:nvPr/>
        </p:nvSpPr>
        <p:spPr>
          <a:xfrm>
            <a:off x="6217920" y="1325880"/>
            <a:ext cx="5440680" cy="4937760"/>
          </a:xfrm>
          <a:prstGeom prst="roundRect">
            <a:avLst>
              <a:gd name="adj" fmla="val 2222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6537960" y="15544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concrete failure</a:t>
            </a:r>
            <a:endParaRPr lang="en-US" sz="2200" dirty="0"/>
          </a:p>
        </p:txBody>
      </p:sp>
      <p:sp>
        <p:nvSpPr>
          <p:cNvPr id="18" name="Shape 13"/>
          <p:cNvSpPr/>
          <p:nvPr/>
        </p:nvSpPr>
        <p:spPr>
          <a:xfrm>
            <a:off x="6537960" y="2148840"/>
            <a:ext cx="480060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9D3E3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6812280" y="23317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Master of Technology (CSE)</a:t>
            </a:r>
            <a:endParaRPr lang="en-US" sz="1800" dirty="0"/>
          </a:p>
        </p:txBody>
      </p:sp>
      <p:sp>
        <p:nvSpPr>
          <p:cNvPr id="20" name="Text 15"/>
          <p:cNvSpPr txBox="1"/>
          <p:nvPr/>
        </p:nvSpPr>
        <p:spPr>
          <a:xfrm>
            <a:off x="6812280" y="283464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Grade: </a:t>
            </a:r>
            <a:pPr indent="0" marL="0">
              <a:buNone/>
            </a:pPr>
            <a:r>
              <a:rPr lang="en-US" sz="2000" strike="sngStrike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Class</a:t>
            </a:r>
            <a:pPr indent="0" marL="0">
              <a:buNone/>
            </a:pPr>
            <a:r>
              <a:rPr lang="en-US" sz="20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First Class</a:t>
            </a:r>
            <a:endParaRPr lang="en-US" sz="2000" dirty="0"/>
          </a:p>
        </p:txBody>
      </p:sp>
      <p:sp>
        <p:nvSpPr>
          <p:cNvPr id="21" name="Text 16"/>
          <p:cNvSpPr txBox="1"/>
          <p:nvPr/>
        </p:nvSpPr>
        <p:spPr>
          <a:xfrm>
            <a:off x="6812280" y="3337560"/>
            <a:ext cx="4389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Edited in any PDF editor. Logo, signature and layout are untouched, so it looks perfect.</a:t>
            </a:r>
            <a:endParaRPr lang="en-US" sz="1800" dirty="0"/>
          </a:p>
        </p:txBody>
      </p:sp>
      <p:sp>
        <p:nvSpPr>
          <p:cNvPr id="22" name="Shape 17"/>
          <p:cNvSpPr/>
          <p:nvPr/>
        </p:nvSpPr>
        <p:spPr>
          <a:xfrm>
            <a:off x="6537960" y="4754880"/>
            <a:ext cx="640080" cy="640080"/>
          </a:xfrm>
          <a:prstGeom prst="ellipse">
            <a:avLst/>
          </a:prstGeom>
          <a:solidFill>
            <a:srgbClr val="B3261E"/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7980" y="4914900"/>
            <a:ext cx="320040" cy="32004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7360920" y="4709160"/>
            <a:ext cx="4023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check it, the employer e-mails the registrar or pays an agency, and waits days. Most never check.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blockchain? Three questions, answered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520440" cy="4846320"/>
          </a:xfrm>
          <a:prstGeom prst="roundRect">
            <a:avLst>
              <a:gd name="adj" fmla="val 3117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645920"/>
            <a:ext cx="777240" cy="77724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7270" y="1840230"/>
            <a:ext cx="388620" cy="3886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60604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are the mutually distrusting writers?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794760"/>
            <a:ext cx="30175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Several universities write to one shared registry. None may edit, backdate or delete another's records, and none should run it for the others.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4297680" y="1371600"/>
            <a:ext cx="3520440" cy="4846320"/>
          </a:xfrm>
          <a:prstGeom prst="roundRect">
            <a:avLst>
              <a:gd name="adj" fmla="val 3117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72000" y="1645920"/>
            <a:ext cx="777240" cy="77724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6310" y="1840230"/>
            <a:ext cx="388620" cy="3886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572000" y="260604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intermediary is removed?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4572000" y="3794760"/>
            <a:ext cx="30175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verification agency and the "e-mail the registrar and wait" loop. Anyone re-hashes the PDF and reads the chain for free, without asking anyone.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8046720" y="1371600"/>
            <a:ext cx="3520440" cy="4846320"/>
          </a:xfrm>
          <a:prstGeom prst="roundRect">
            <a:avLst>
              <a:gd name="adj" fmla="val 3117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321040" y="1645920"/>
            <a:ext cx="777240" cy="77724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5350" y="1840230"/>
            <a:ext cx="388620" cy="3886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321040" y="260604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a database + signatures do?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8321040" y="3794760"/>
            <a:ext cx="30175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Partly. A signature proves who issued it. But a university-run revocation list can be silently edited, backdated or taken offline. The chain gives one append-only status that no single university controls.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Architecture: hashes on-chain, people off-chain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94360" cy="59436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7230" y="1428750"/>
            <a:ext cx="297180" cy="2971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34440" y="13716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2971800" y="1280160"/>
            <a:ext cx="594360" cy="59436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0390" y="1428750"/>
            <a:ext cx="297180" cy="29718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3657600" y="13716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Verifier</a:t>
            </a:r>
            <a:endParaRPr lang="en-US" sz="1800" dirty="0"/>
          </a:p>
        </p:txBody>
      </p:sp>
      <p:sp>
        <p:nvSpPr>
          <p:cNvPr id="9" name="Shape 5"/>
          <p:cNvSpPr/>
          <p:nvPr/>
        </p:nvSpPr>
        <p:spPr>
          <a:xfrm>
            <a:off x="5394960" y="1280160"/>
            <a:ext cx="594360" cy="59436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3550" y="1428750"/>
            <a:ext cx="297180" cy="29718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6080760" y="13716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800" dirty="0"/>
          </a:p>
        </p:txBody>
      </p:sp>
      <p:sp>
        <p:nvSpPr>
          <p:cNvPr id="12" name="Shape 7"/>
          <p:cNvSpPr/>
          <p:nvPr/>
        </p:nvSpPr>
        <p:spPr>
          <a:xfrm>
            <a:off x="548640" y="2240280"/>
            <a:ext cx="7040880" cy="2148840"/>
          </a:xfrm>
          <a:prstGeom prst="roundRect">
            <a:avLst>
              <a:gd name="adj" fmla="val 5106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777240" y="237744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client  (off-chain)</a:t>
            </a:r>
            <a:endParaRPr lang="en-US" sz="1800" dirty="0"/>
          </a:p>
        </p:txBody>
      </p:sp>
      <p:sp>
        <p:nvSpPr>
          <p:cNvPr id="14" name="Shape 9"/>
          <p:cNvSpPr/>
          <p:nvPr/>
        </p:nvSpPr>
        <p:spPr>
          <a:xfrm>
            <a:off x="777240" y="2880360"/>
            <a:ext cx="155448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9D3E3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777240" y="28803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cli.py</a:t>
            </a:r>
            <a:endParaRPr lang="en-US" sz="1800" dirty="0"/>
          </a:p>
        </p:txBody>
      </p:sp>
      <p:sp>
        <p:nvSpPr>
          <p:cNvPr id="16" name="Shape 11"/>
          <p:cNvSpPr/>
          <p:nvPr/>
        </p:nvSpPr>
        <p:spPr>
          <a:xfrm>
            <a:off x="2697480" y="2880360"/>
            <a:ext cx="192024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9D3E3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2697480" y="28803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· cohort</a:t>
            </a:r>
            <a:endParaRPr lang="en-US" sz="1800" dirty="0"/>
          </a:p>
        </p:txBody>
      </p:sp>
      <p:sp>
        <p:nvSpPr>
          <p:cNvPr id="18" name="Shape 13"/>
          <p:cNvSpPr/>
          <p:nvPr/>
        </p:nvSpPr>
        <p:spPr>
          <a:xfrm>
            <a:off x="4983480" y="2880360"/>
            <a:ext cx="237744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C9D3E3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4983480" y="28803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hashing · merkle</a:t>
            </a:r>
            <a:endParaRPr lang="en-US" sz="1800" dirty="0"/>
          </a:p>
        </p:txBody>
      </p:sp>
      <p:sp>
        <p:nvSpPr>
          <p:cNvPr id="20" name="Shape 15"/>
          <p:cNvSpPr/>
          <p:nvPr/>
        </p:nvSpPr>
        <p:spPr>
          <a:xfrm>
            <a:off x="2331720" y="3154680"/>
            <a:ext cx="365760" cy="914"/>
          </a:xfrm>
          <a:prstGeom prst="line">
            <a:avLst/>
          </a:prstGeom>
          <a:noFill/>
          <a:ln w="25400">
            <a:solidFill>
              <a:srgbClr val="4A5568"/>
            </a:solidFill>
            <a:prstDash val="solid"/>
            <a:tailEnd type="triangle"/>
          </a:ln>
        </p:spPr>
      </p:sp>
      <p:sp>
        <p:nvSpPr>
          <p:cNvPr id="21" name="Shape 16"/>
          <p:cNvSpPr/>
          <p:nvPr/>
        </p:nvSpPr>
        <p:spPr>
          <a:xfrm>
            <a:off x="4617720" y="3154680"/>
            <a:ext cx="365760" cy="914"/>
          </a:xfrm>
          <a:prstGeom prst="line">
            <a:avLst/>
          </a:prstGeom>
          <a:noFill/>
          <a:ln w="25400">
            <a:solidFill>
              <a:srgbClr val="4A5568"/>
            </a:solidFill>
            <a:prstDash val="solid"/>
            <a:tailEnd type="triangle"/>
          </a:ln>
        </p:spPr>
      </p:sp>
      <p:sp>
        <p:nvSpPr>
          <p:cNvPr id="22" name="Shape 17"/>
          <p:cNvSpPr/>
          <p:nvPr/>
        </p:nvSpPr>
        <p:spPr>
          <a:xfrm>
            <a:off x="2697480" y="3657600"/>
            <a:ext cx="4480560" cy="548640"/>
          </a:xfrm>
          <a:prstGeom prst="roundRect">
            <a:avLst>
              <a:gd name="adj" fmla="val 13333"/>
            </a:avLst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2697480" y="365760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chain.py — the only web3 import</a:t>
            </a:r>
            <a:endParaRPr lang="en-US" sz="1800" dirty="0"/>
          </a:p>
        </p:txBody>
      </p:sp>
      <p:sp>
        <p:nvSpPr>
          <p:cNvPr id="24" name="Shape 19"/>
          <p:cNvSpPr/>
          <p:nvPr/>
        </p:nvSpPr>
        <p:spPr>
          <a:xfrm>
            <a:off x="4937760" y="4206240"/>
            <a:ext cx="914" cy="594360"/>
          </a:xfrm>
          <a:prstGeom prst="line">
            <a:avLst/>
          </a:prstGeom>
          <a:noFill/>
          <a:ln w="25400">
            <a:solidFill>
              <a:srgbClr val="14213D"/>
            </a:solidFill>
            <a:prstDash val="solid"/>
            <a:tailEnd type="triangle"/>
          </a:ln>
        </p:spPr>
      </p:sp>
      <p:sp>
        <p:nvSpPr>
          <p:cNvPr id="25" name="Text 20"/>
          <p:cNvSpPr txBox="1"/>
          <p:nvPr/>
        </p:nvSpPr>
        <p:spPr>
          <a:xfrm>
            <a:off x="777240" y="44805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JSON-RPC · local node</a:t>
            </a:r>
            <a:endParaRPr lang="en-US" sz="1800" dirty="0"/>
          </a:p>
        </p:txBody>
      </p:sp>
      <p:sp>
        <p:nvSpPr>
          <p:cNvPr id="26" name="Shape 21"/>
          <p:cNvSpPr/>
          <p:nvPr/>
        </p:nvSpPr>
        <p:spPr>
          <a:xfrm>
            <a:off x="548640" y="4846320"/>
            <a:ext cx="7040880" cy="1417320"/>
          </a:xfrm>
          <a:prstGeom prst="roundRect">
            <a:avLst>
              <a:gd name="adj" fmla="val 7742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777240" y="498348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CredentialRegistry.sol  (on-chain)</a:t>
            </a:r>
            <a:endParaRPr lang="en-US" sz="2000" dirty="0"/>
          </a:p>
        </p:txBody>
      </p:sp>
      <p:sp>
        <p:nvSpPr>
          <p:cNvPr id="28" name="Text 23"/>
          <p:cNvSpPr txBox="1"/>
          <p:nvPr/>
        </p:nvSpPr>
        <p:spPr>
          <a:xfrm>
            <a:off x="777240" y="5440680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AccessControl · REGISTRAR_ROLE · Sha256Merkle · events</a:t>
            </a:r>
            <a:endParaRPr lang="en-US" sz="1800" dirty="0"/>
          </a:p>
        </p:txBody>
      </p:sp>
      <p:sp>
        <p:nvSpPr>
          <p:cNvPr id="29" name="Shape 24"/>
          <p:cNvSpPr/>
          <p:nvPr/>
        </p:nvSpPr>
        <p:spPr>
          <a:xfrm>
            <a:off x="7955280" y="1280160"/>
            <a:ext cx="3703320" cy="2377440"/>
          </a:xfrm>
          <a:prstGeom prst="roundRect">
            <a:avLst>
              <a:gd name="adj" fmla="val 4615"/>
            </a:avLst>
          </a:prstGeom>
          <a:solidFill>
            <a:srgbClr val="E4F3EA"/>
          </a:solidFill>
          <a:ln w="12700">
            <a:solidFill>
              <a:srgbClr val="E4F3EA"/>
            </a:solidFill>
            <a:prstDash val="solid"/>
          </a:ln>
        </p:spPr>
      </p:sp>
      <p:sp>
        <p:nvSpPr>
          <p:cNvPr id="30" name="Text 25"/>
          <p:cNvSpPr txBox="1"/>
          <p:nvPr/>
        </p:nvSpPr>
        <p:spPr>
          <a:xfrm>
            <a:off x="8183880" y="14173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1E7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ON-CHAIN</a:t>
            </a:r>
            <a:endParaRPr lang="en-US" sz="1800" dirty="0"/>
          </a:p>
        </p:txBody>
      </p:sp>
      <p:sp>
        <p:nvSpPr>
          <p:cNvPr id="31" name="Text 26"/>
          <p:cNvSpPr txBox="1"/>
          <p:nvPr/>
        </p:nvSpPr>
        <p:spPr>
          <a:xfrm>
            <a:off x="8183880" y="1828800"/>
            <a:ext cx="3337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docHash = SHA-256(PDF)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subjectHash (salted id)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issuer · times · status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Merkle root</a:t>
            </a:r>
            <a:endParaRPr lang="en-US" sz="1800" dirty="0"/>
          </a:p>
        </p:txBody>
      </p:sp>
      <p:sp>
        <p:nvSpPr>
          <p:cNvPr id="32" name="Shape 27"/>
          <p:cNvSpPr/>
          <p:nvPr/>
        </p:nvSpPr>
        <p:spPr>
          <a:xfrm>
            <a:off x="7955280" y="3886200"/>
            <a:ext cx="3703320" cy="2377440"/>
          </a:xfrm>
          <a:prstGeom prst="roundRect">
            <a:avLst>
              <a:gd name="adj" fmla="val 4615"/>
            </a:avLst>
          </a:prstGeom>
          <a:solidFill>
            <a:srgbClr val="FBEDEC"/>
          </a:solidFill>
          <a:ln w="12700">
            <a:solidFill>
              <a:srgbClr val="FBEDEC"/>
            </a:solidFill>
            <a:prstDash val="solid"/>
          </a:ln>
        </p:spPr>
      </p:sp>
      <p:sp>
        <p:nvSpPr>
          <p:cNvPr id="33" name="Text 28"/>
          <p:cNvSpPr txBox="1"/>
          <p:nvPr/>
        </p:nvSpPr>
        <p:spPr>
          <a:xfrm>
            <a:off x="8183880" y="40233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OFF-CHAIN</a:t>
            </a:r>
            <a:endParaRPr lang="en-US" sz="1800" dirty="0"/>
          </a:p>
        </p:txBody>
      </p:sp>
      <p:sp>
        <p:nvSpPr>
          <p:cNvPr id="34" name="Text 29"/>
          <p:cNvSpPr txBox="1"/>
          <p:nvPr/>
        </p:nvSpPr>
        <p:spPr>
          <a:xfrm>
            <a:off x="8183880" y="4434840"/>
            <a:ext cx="3337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PDF, name, student id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salt + Merkle proof (student keeps)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revocation reason text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map and contract interface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212080" cy="4983480"/>
          </a:xfrm>
          <a:prstGeom prst="roundRect">
            <a:avLst>
              <a:gd name="adj" fmla="val 2202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63040"/>
            <a:ext cx="484632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contracts/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├ CredentialRegistry.sol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└ Sha256Merkle.sol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client/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├ config.py  constants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├ chain.py   web3 only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├ domain · cohort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├ hashing · merkle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└ cli · models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scripts/ deploy·demo·tamper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tests/   10 sol + 5 py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126480" y="12801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126480" y="1737360"/>
            <a:ext cx="5532120" cy="1234440"/>
          </a:xfrm>
          <a:prstGeom prst="roundRect">
            <a:avLst>
              <a:gd name="adj" fmla="val 5926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309360" y="1828800"/>
            <a:ext cx="5257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enum Status { NONE, VALID, REVOKED }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Credential { subjectHash, issuer,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issuedAt, revokedAt, status }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126480" y="31546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interface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6126480" y="3611880"/>
            <a:ext cx="55321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/ revoke</a:t>
            </a:r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(docHash, …)  registrar only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(docHash)  free view, never reverts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issueBatch</a:t>
            </a:r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(root, size)  one tx per cohort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revokeBatchMember</a:t>
            </a:r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(…, proof)  one student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verifyBatchMember</a:t>
            </a:r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(…, proof)  free view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demo:  make node  ·  make demo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923544" y="1325880"/>
            <a:ext cx="731520" cy="73152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23544" y="13258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94560"/>
            <a:ext cx="14813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94360" y="2926080"/>
            <a:ext cx="1389888" cy="502920"/>
          </a:xfrm>
          <a:prstGeom prst="roundRect">
            <a:avLst>
              <a:gd name="adj" fmla="val 14545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2926080"/>
            <a:ext cx="138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ISSUED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514600" y="1325880"/>
            <a:ext cx="731520" cy="73152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514600" y="13258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2139696" y="2194560"/>
            <a:ext cx="14813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185416" y="2926080"/>
            <a:ext cx="1389888" cy="502920"/>
          </a:xfrm>
          <a:prstGeom prst="roundRect">
            <a:avLst>
              <a:gd name="adj" fmla="val 14545"/>
            </a:avLst>
          </a:prstGeom>
          <a:solidFill>
            <a:srgbClr val="1E7F4F"/>
          </a:solidFill>
          <a:ln w="12700">
            <a:solidFill>
              <a:srgbClr val="1E7F4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185416" y="2926080"/>
            <a:ext cx="138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105656" y="1325880"/>
            <a:ext cx="731520" cy="73152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105656" y="13258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3730752" y="2194560"/>
            <a:ext cx="14813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 1 byte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776472" y="2926080"/>
            <a:ext cx="1389888" cy="502920"/>
          </a:xfrm>
          <a:prstGeom prst="roundRect">
            <a:avLst>
              <a:gd name="adj" fmla="val 14545"/>
            </a:avLst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776472" y="2926080"/>
            <a:ext cx="138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forged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696712" y="1325880"/>
            <a:ext cx="731520" cy="73152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696712" y="13258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20" name="Text 18"/>
          <p:cNvSpPr txBox="1"/>
          <p:nvPr/>
        </p:nvSpPr>
        <p:spPr>
          <a:xfrm>
            <a:off x="5321808" y="2194560"/>
            <a:ext cx="14813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forged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5367528" y="2926080"/>
            <a:ext cx="1389888" cy="502920"/>
          </a:xfrm>
          <a:prstGeom prst="roundRect">
            <a:avLst>
              <a:gd name="adj" fmla="val 14545"/>
            </a:avLst>
          </a:prstGeom>
          <a:solidFill>
            <a:srgbClr val="B3261E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367528" y="2926080"/>
            <a:ext cx="138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7287768" y="1325880"/>
            <a:ext cx="731520" cy="73152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287768" y="13258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400" dirty="0"/>
          </a:p>
        </p:txBody>
      </p:sp>
      <p:sp>
        <p:nvSpPr>
          <p:cNvPr id="25" name="Text 23"/>
          <p:cNvSpPr txBox="1"/>
          <p:nvPr/>
        </p:nvSpPr>
        <p:spPr>
          <a:xfrm>
            <a:off x="6912864" y="2194560"/>
            <a:ext cx="14813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Revoke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6958584" y="2926080"/>
            <a:ext cx="1389888" cy="502920"/>
          </a:xfrm>
          <a:prstGeom prst="roundRect">
            <a:avLst>
              <a:gd name="adj" fmla="val 14545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958584" y="2926080"/>
            <a:ext cx="138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 sent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8878824" y="1325880"/>
            <a:ext cx="731520" cy="73152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878824" y="13258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400" dirty="0"/>
          </a:p>
        </p:txBody>
      </p:sp>
      <p:sp>
        <p:nvSpPr>
          <p:cNvPr id="30" name="Text 28"/>
          <p:cNvSpPr txBox="1"/>
          <p:nvPr/>
        </p:nvSpPr>
        <p:spPr>
          <a:xfrm>
            <a:off x="8503920" y="2194560"/>
            <a:ext cx="14813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again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8549640" y="2926080"/>
            <a:ext cx="1389888" cy="502920"/>
          </a:xfrm>
          <a:prstGeom prst="roundRect">
            <a:avLst>
              <a:gd name="adj" fmla="val 14545"/>
            </a:avLst>
          </a:prstGeom>
          <a:solidFill>
            <a:srgbClr val="A86508"/>
          </a:solidFill>
          <a:ln w="12700">
            <a:solidFill>
              <a:srgbClr val="A8650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549640" y="2926080"/>
            <a:ext cx="138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REVOKED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10469880" y="1325880"/>
            <a:ext cx="731520" cy="73152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0469880" y="13258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400" dirty="0"/>
          </a:p>
        </p:txBody>
      </p:sp>
      <p:sp>
        <p:nvSpPr>
          <p:cNvPr id="35" name="Text 33"/>
          <p:cNvSpPr txBox="1"/>
          <p:nvPr/>
        </p:nvSpPr>
        <p:spPr>
          <a:xfrm>
            <a:off x="10094976" y="2194560"/>
            <a:ext cx="14813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Outsider issues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10140696" y="2926080"/>
            <a:ext cx="1389888" cy="502920"/>
          </a:xfrm>
          <a:prstGeom prst="roundRect">
            <a:avLst>
              <a:gd name="adj" fmla="val 14545"/>
            </a:avLst>
          </a:prstGeom>
          <a:solidFill>
            <a:srgbClr val="B3261E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10140696" y="2926080"/>
            <a:ext cx="138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548640" y="3749040"/>
            <a:ext cx="11109960" cy="1874520"/>
          </a:xfrm>
          <a:prstGeom prst="roundRect">
            <a:avLst>
              <a:gd name="adj" fmla="val 4878"/>
            </a:avLst>
          </a:prstGeom>
          <a:solidFill>
            <a:srgbClr val="0F1830"/>
          </a:solidFill>
          <a:ln w="12700">
            <a:solidFill>
              <a:srgbClr val="0F1830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22960" y="3886200"/>
            <a:ext cx="10607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800" dirty="0">
                <a:solidFill>
                  <a:srgbClr val="6FD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VALID: issued 2026-09-28 by 0x7099…79C8</a:t>
            </a:r>
            <a:endParaRPr lang="en-US" sz="18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800" dirty="0">
                <a:solidFill>
                  <a:srgbClr val="FF8A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FAIL: not registered - the file was altered or never issued</a:t>
            </a:r>
            <a:endParaRPr lang="en-US" sz="18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800" dirty="0">
                <a:solidFill>
                  <a:srgbClr val="F6C1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REVOKED: issued 07:44:12 UTC … revoked 07:44:14 UTC</a:t>
            </a:r>
            <a:endParaRPr lang="en-US" sz="18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800" dirty="0">
                <a:solidFill>
                  <a:srgbClr val="FF8A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REJECTED by contract: AccessControlUnauthorizedAccount</a:t>
            </a:r>
            <a:endParaRPr lang="en-US" sz="1800" dirty="0"/>
          </a:p>
        </p:txBody>
      </p:sp>
      <p:sp>
        <p:nvSpPr>
          <p:cNvPr id="40" name="Text 38"/>
          <p:cNvSpPr txBox="1"/>
          <p:nvPr/>
        </p:nvSpPr>
        <p:spPr>
          <a:xfrm>
            <a:off x="548640" y="5852160"/>
            <a:ext cx="11109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Stretch: </a:t>
            </a:r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demo-cohort — 3 students, one Merkle root; revoke one, others stay VALID.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Security, tests, limits and AI use</a:t>
            </a:r>
            <a:endParaRPr lang="en-US" sz="3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109960" cy="914400"/>
        </p:xfrm>
        <a:graphic>
          <a:graphicData uri="http://schemas.openxmlformats.org/drawingml/2006/table">
            <a:tbl>
              <a:tblPr/>
              <a:tblGrid>
                <a:gridCol w="3063240"/>
                <a:gridCol w="3931920"/>
                <a:gridCol w="41148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Threat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2540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0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2540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0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Residual risk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2540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017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Stolen registrar key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2540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4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 check; admin removes role; issuer recorded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2540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4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Fakes stay VALID until revoked; admin should be multisig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2540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45E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Brute-force id hash from roll list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2540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4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32-byte random salt per student; no PII on-chain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2540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4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Leaked salt links the student; hashes are permanent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2540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45E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Look-alike fake registry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2540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4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Verifiers use the published contract address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2540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4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Trust moves to how that address is shared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>
                    <a:lnL w="2540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421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45E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48640" y="4343400"/>
            <a:ext cx="3520440" cy="2011680"/>
          </a:xfrm>
          <a:prstGeom prst="roundRect">
            <a:avLst>
              <a:gd name="adj" fmla="val 5455"/>
            </a:avLst>
          </a:prstGeom>
          <a:solidFill>
            <a:srgbClr val="22345E"/>
          </a:solidFill>
          <a:ln w="12700">
            <a:solidFill>
              <a:srgbClr val="22345E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77240" y="443484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502920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tests, 9 negative — one command: make test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4297680" y="4343400"/>
            <a:ext cx="3520440" cy="2011680"/>
          </a:xfrm>
          <a:prstGeom prst="roundRect">
            <a:avLst>
              <a:gd name="adj" fmla="val 5455"/>
            </a:avLst>
          </a:prstGeom>
          <a:solidFill>
            <a:srgbClr val="22345E"/>
          </a:solidFill>
          <a:ln w="12700">
            <a:solidFill>
              <a:srgbClr val="22345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26280" y="443484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94k → 49k</a:t>
            </a:r>
            <a:endParaRPr lang="en-US" sz="3200" dirty="0"/>
          </a:p>
        </p:txBody>
      </p:sp>
      <p:sp>
        <p:nvSpPr>
          <p:cNvPr id="9" name="Text 6"/>
          <p:cNvSpPr txBox="1"/>
          <p:nvPr/>
        </p:nvSpPr>
        <p:spPr>
          <a:xfrm>
            <a:off x="4526280" y="502920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gas: one credential vs a whole cohort. Limit: a re-saved PDF fails; proves issuer, not merit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8046720" y="4343400"/>
            <a:ext cx="3520440" cy="2011680"/>
          </a:xfrm>
          <a:prstGeom prst="roundRect">
            <a:avLst>
              <a:gd name="adj" fmla="val 5455"/>
            </a:avLst>
          </a:prstGeom>
          <a:solidFill>
            <a:srgbClr val="22345E"/>
          </a:solidFill>
          <a:ln w="12700">
            <a:solidFill>
              <a:srgbClr val="22345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275320" y="443484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</a:t>
            </a:r>
            <a:endParaRPr lang="en-US" sz="3200" dirty="0"/>
          </a:p>
        </p:txBody>
      </p:sp>
      <p:sp>
        <p:nvSpPr>
          <p:cNvPr id="12" name="Text 9"/>
          <p:cNvSpPr txBox="1"/>
          <p:nvPr/>
        </p:nvSpPr>
        <p:spPr>
          <a:xfrm>
            <a:off x="8275320" y="502920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for code, tests, docs, slides — declared in AI_USAGE.md, 4 AI mistakes caught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Tamper-evident Credential Registry</dc:title>
  <dc:subject>PptxGenJS Presentation</dc:subject>
  <dc:creator>PptxGenJS</dc:creator>
  <cp:lastModifiedBy>PptxGenJS</cp:lastModifiedBy>
  <cp:revision>1</cp:revision>
  <dcterms:created xsi:type="dcterms:W3CDTF">2026-09-28T08:32:05Z</dcterms:created>
  <dcterms:modified xsi:type="dcterms:W3CDTF">2026-09-28T08:32:05Z</dcterms:modified>
</cp:coreProperties>
</file>